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26"/>
  </p:notesMasterIdLst>
  <p:sldIdLst>
    <p:sldId id="256" r:id="rId12"/>
    <p:sldId id="257" r:id="rId13"/>
    <p:sldId id="267" r:id="rId14"/>
    <p:sldId id="268" r:id="rId15"/>
    <p:sldId id="269" r:id="rId16"/>
    <p:sldId id="277" r:id="rId17"/>
    <p:sldId id="278" r:id="rId18"/>
    <p:sldId id="279" r:id="rId19"/>
    <p:sldId id="274" r:id="rId20"/>
    <p:sldId id="270" r:id="rId21"/>
    <p:sldId id="271" r:id="rId22"/>
    <p:sldId id="273" r:id="rId23"/>
    <p:sldId id="265" r:id="rId24"/>
    <p:sldId id="266" r:id="rId25"/>
  </p:sldIdLst>
  <p:sldSz cx="12192000" cy="6858000"/>
  <p:notesSz cx="7559675" cy="10691813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ED457-1633-486A-86B7-FAD83233E4B7}" type="datetimeFigureOut">
              <a:rPr lang="en-DE" smtClean="0"/>
              <a:t>29/05/2026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263BA-E3AF-4C01-9F4F-858ECBD3FFAA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989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263BA-E3AF-4C01-9F4F-858ECBD3FFAA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13259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263BA-E3AF-4C01-9F4F-858ECBD3FFAA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60666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7CC9DE-CF2F-4CD0-9FB6-FE3302C53DEB}" type="slidenum">
              <a:t>‹Nr.›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D611447-B951-4D7F-AD14-CCEA79CCB709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49E7315-CAFF-4634-B87F-B114E5BD0EC0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A0AB31C-35D2-4076-A214-AB88DE7A4625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D91D2C88-4986-4605-8B4B-318283229DD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0090371A-EFA7-4F2B-934F-98C97E973F85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20AB23C7-1077-4E91-9638-E288BBD95DCC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C804DA67-EA89-4675-A907-547D86C70B23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9121029D-3884-4A9D-996B-6FCC575C9DF6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72868D00-D075-4162-AC22-B9557226AFF1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DEC2091E-2EBD-4B3D-94D3-2FDBC3FD1729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208EB2-BB39-414A-B04F-87F732072E0D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D69C84-7F08-4D08-88F3-6C57BF339886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9891E0-D2F0-4A0B-978B-EEBF8F6CF6E2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b="0" strike="noStrike" spc="-1">
                <a:solidFill>
                  <a:srgbClr val="6B6D71"/>
                </a:solidFill>
                <a:latin typeface="Metropolis Semi Bold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Rectangle: Rounded Corners 6"/>
          <p:cNvSpPr/>
          <p:nvPr/>
        </p:nvSpPr>
        <p:spPr>
          <a:xfrm>
            <a:off x="299880" y="884160"/>
            <a:ext cx="4200840" cy="45360"/>
          </a:xfrm>
          <a:prstGeom prst="roundRect">
            <a:avLst>
              <a:gd name="adj" fmla="val 50000"/>
            </a:avLst>
          </a:prstGeom>
          <a:solidFill>
            <a:srgbClr val="B22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12600" rIns="90000" bIns="-126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N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" name="Rectangle 7"/>
          <p:cNvSpPr/>
          <p:nvPr/>
        </p:nvSpPr>
        <p:spPr>
          <a:xfrm>
            <a:off x="0" y="6576840"/>
            <a:ext cx="12191760" cy="294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IN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10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&lt;footer&gt;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11"/>
          </p:nvPr>
        </p:nvSpPr>
        <p:spPr>
          <a:xfrm>
            <a:off x="11353680" y="6593400"/>
            <a:ext cx="739440" cy="22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lt1">
                    <a:tint val="75000"/>
                  </a:schemeClr>
                </a:solidFill>
                <a:latin typeface="Metropolis Semi Bol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6B05D0-8ADF-4609-B8D3-77A98F528785}" type="slidenum">
              <a:rPr lang="en-IN" sz="1200" b="0" strike="noStrike" spc="-1">
                <a:solidFill>
                  <a:schemeClr val="lt1">
                    <a:tint val="75000"/>
                  </a:schemeClr>
                </a:solidFill>
                <a:latin typeface="Metropolis Semi Bold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Footer Placeholder 4"/>
          <p:cNvSpPr/>
          <p:nvPr/>
        </p:nvSpPr>
        <p:spPr>
          <a:xfrm>
            <a:off x="5720040" y="6585120"/>
            <a:ext cx="4340520" cy="26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lt1"/>
                </a:solidFill>
                <a:latin typeface="Metropolis Extra Bold"/>
              </a:rPr>
              <a:t>INSECT 2026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" name="Picture 3"/>
          <p:cNvPicPr/>
          <p:nvPr/>
        </p:nvPicPr>
        <p:blipFill>
          <a:blip r:embed="rId3"/>
          <a:stretch/>
        </p:blipFill>
        <p:spPr>
          <a:xfrm>
            <a:off x="10180440" y="379440"/>
            <a:ext cx="1029240" cy="306360"/>
          </a:xfrm>
          <a:prstGeom prst="rect">
            <a:avLst/>
          </a:prstGeom>
          <a:ln w="0">
            <a:noFill/>
          </a:ln>
        </p:spPr>
      </p:pic>
      <p:pic>
        <p:nvPicPr>
          <p:cNvPr id="24" name="Picture 11"/>
          <p:cNvPicPr/>
          <p:nvPr/>
        </p:nvPicPr>
        <p:blipFill>
          <a:blip r:embed="rId4"/>
          <a:srcRect l="7898" t="34231" r="12695" b="35134"/>
          <a:stretch/>
        </p:blipFill>
        <p:spPr>
          <a:xfrm>
            <a:off x="11353680" y="401400"/>
            <a:ext cx="754200" cy="294480"/>
          </a:xfrm>
          <a:prstGeom prst="rect">
            <a:avLst/>
          </a:prstGeom>
          <a:ln w="0">
            <a:noFill/>
          </a:ln>
        </p:spPr>
      </p:pic>
      <p:cxnSp>
        <p:nvCxnSpPr>
          <p:cNvPr id="25" name="Straight Connector 13"/>
          <p:cNvCxnSpPr/>
          <p:nvPr/>
        </p:nvCxnSpPr>
        <p:spPr>
          <a:xfrm>
            <a:off x="11307960" y="330120"/>
            <a:ext cx="360" cy="425880"/>
          </a:xfrm>
          <a:prstGeom prst="straightConnector1">
            <a:avLst/>
          </a:prstGeom>
          <a:ln>
            <a:solidFill>
              <a:srgbClr val="6B6D71"/>
            </a:solidFill>
          </a:ln>
        </p:spPr>
      </p:cxn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D16A25-E537-4442-B1AA-1E4D42316016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04E741-53D0-4328-9BA1-72B5815AA7DF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7" name="PlaceHolder 7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FDF57C-71AE-47CE-B293-5F9E0BC9FB3A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D31AF7-0A8D-4037-920A-75CEC9B54686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CD3C85-E342-4CC7-A16D-3A2456D39276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969982-2DBC-4880-93C6-DB3E2C0A7BF3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7" name="PlaceHolder 5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1F2D67-D7A1-48A7-9BEC-57251E94C0B7}" type="slidenum">
              <a:rPr lang="en-IN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8"/>
          <p:cNvSpPr/>
          <p:nvPr/>
        </p:nvSpPr>
        <p:spPr>
          <a:xfrm>
            <a:off x="4501800" y="1834200"/>
            <a:ext cx="6378480" cy="12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accent1"/>
                </a:solidFill>
                <a:latin typeface="Metropolis Semi Bold"/>
              </a:rPr>
              <a:t>IEEE International Conference on</a:t>
            </a:r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0" strike="noStrike" spc="-1">
                <a:solidFill>
                  <a:schemeClr val="accent1"/>
                </a:solidFill>
                <a:latin typeface="Metropolis Black"/>
              </a:rPr>
              <a:t>Intelligent and Sustainable Electronics &amp; Computing Technologies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0" strike="noStrike" spc="-1">
                <a:solidFill>
                  <a:schemeClr val="accent2"/>
                </a:solidFill>
                <a:latin typeface="Metropolis Black"/>
              </a:rPr>
              <a:t>INSECT 2026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70" name="Straight Connector 9"/>
          <p:cNvCxnSpPr/>
          <p:nvPr/>
        </p:nvCxnSpPr>
        <p:spPr>
          <a:xfrm>
            <a:off x="4338000" y="1802160"/>
            <a:ext cx="6706080" cy="360"/>
          </a:xfrm>
          <a:prstGeom prst="straightConnector1">
            <a:avLst/>
          </a:prstGeom>
          <a:ln>
            <a:solidFill>
              <a:srgbClr val="D1A550"/>
            </a:solidFill>
          </a:ln>
        </p:spPr>
      </p:cxnSp>
      <p:cxnSp>
        <p:nvCxnSpPr>
          <p:cNvPr id="71" name="Straight Connector 20"/>
          <p:cNvCxnSpPr/>
          <p:nvPr/>
        </p:nvCxnSpPr>
        <p:spPr>
          <a:xfrm>
            <a:off x="4338000" y="3119040"/>
            <a:ext cx="6706080" cy="360"/>
          </a:xfrm>
          <a:prstGeom prst="straightConnector1">
            <a:avLst/>
          </a:prstGeom>
          <a:ln>
            <a:solidFill>
              <a:srgbClr val="D1A550"/>
            </a:solidFill>
          </a:ln>
        </p:spPr>
      </p:cxnSp>
      <p:graphicFrame>
        <p:nvGraphicFramePr>
          <p:cNvPr id="72" name="Table 11"/>
          <p:cNvGraphicFramePr/>
          <p:nvPr>
            <p:extLst>
              <p:ext uri="{D42A27DB-BD31-4B8C-83A1-F6EECF244321}">
                <p14:modId xmlns:p14="http://schemas.microsoft.com/office/powerpoint/2010/main" val="2824140087"/>
              </p:ext>
            </p:extLst>
          </p:nvPr>
        </p:nvGraphicFramePr>
        <p:xfrm>
          <a:off x="3540960" y="4980960"/>
          <a:ext cx="8127720" cy="1371600"/>
        </p:xfrm>
        <a:graphic>
          <a:graphicData uri="http://schemas.openxmlformats.org/drawingml/2006/table">
            <a:tbl>
              <a:tblPr/>
              <a:tblGrid>
                <a:gridCol w="296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9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chemeClr val="lt1"/>
                          </a:solidFill>
                          <a:latin typeface="Metropolis Medium"/>
                        </a:rPr>
                        <a:t>Paper ID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>
                    <a:lnL w="12240">
                      <a:solidFill>
                        <a:srgbClr val="6B6D71"/>
                      </a:solidFill>
                      <a:prstDash val="solid"/>
                    </a:lnL>
                    <a:lnR w="12240">
                      <a:solidFill>
                        <a:srgbClr val="6B6D71"/>
                      </a:solidFill>
                      <a:prstDash val="solid"/>
                    </a:lnR>
                    <a:lnT w="12240">
                      <a:solidFill>
                        <a:srgbClr val="6B6D71"/>
                      </a:solidFill>
                      <a:prstDash val="solid"/>
                    </a:lnT>
                    <a:lnB w="12240">
                      <a:solidFill>
                        <a:srgbClr val="6B6D7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Metropolis Medium"/>
                        </a:rPr>
                        <a:t>1617</a:t>
                      </a:r>
                    </a:p>
                  </a:txBody>
                  <a:tcPr>
                    <a:lnL w="12240">
                      <a:solidFill>
                        <a:srgbClr val="6B6D71"/>
                      </a:solidFill>
                      <a:prstDash val="solid"/>
                    </a:lnL>
                    <a:lnR w="12240">
                      <a:solidFill>
                        <a:srgbClr val="6B6D71"/>
                      </a:solidFill>
                      <a:prstDash val="solid"/>
                    </a:lnR>
                    <a:lnT w="12240">
                      <a:solidFill>
                        <a:srgbClr val="6B6D71"/>
                      </a:solidFill>
                      <a:prstDash val="solid"/>
                    </a:lnT>
                    <a:lnB w="12240">
                      <a:solidFill>
                        <a:srgbClr val="6B6D7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chemeClr val="lt1"/>
                          </a:solidFill>
                          <a:latin typeface="Metropolis Medium"/>
                        </a:rPr>
                        <a:t>Author Name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>
                    <a:lnL w="12240">
                      <a:solidFill>
                        <a:srgbClr val="6B6D71"/>
                      </a:solidFill>
                      <a:prstDash val="solid"/>
                    </a:lnL>
                    <a:lnR w="12240">
                      <a:solidFill>
                        <a:srgbClr val="6B6D71"/>
                      </a:solidFill>
                      <a:prstDash val="solid"/>
                    </a:lnR>
                    <a:lnT w="12240">
                      <a:solidFill>
                        <a:srgbClr val="6B6D71"/>
                      </a:solidFill>
                      <a:prstDash val="solid"/>
                    </a:lnT>
                    <a:lnB w="12240">
                      <a:solidFill>
                        <a:srgbClr val="6B6D7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Metropolis Medium"/>
                        </a:rPr>
                        <a:t>Ashuqullah Alizai</a:t>
                      </a:r>
                    </a:p>
                  </a:txBody>
                  <a:tcPr>
                    <a:lnL w="12240">
                      <a:solidFill>
                        <a:srgbClr val="6B6D71"/>
                      </a:solidFill>
                      <a:prstDash val="solid"/>
                    </a:lnL>
                    <a:lnR w="12240">
                      <a:solidFill>
                        <a:srgbClr val="6B6D71"/>
                      </a:solidFill>
                      <a:prstDash val="solid"/>
                    </a:lnR>
                    <a:lnT w="12240">
                      <a:solidFill>
                        <a:srgbClr val="6B6D71"/>
                      </a:solidFill>
                      <a:prstDash val="solid"/>
                    </a:lnT>
                    <a:lnB w="12240">
                      <a:solidFill>
                        <a:srgbClr val="6B6D7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chemeClr val="lt1"/>
                          </a:solidFill>
                          <a:latin typeface="Metropolis Medium"/>
                        </a:rPr>
                        <a:t>Affiliation of Authors</a:t>
                      </a:r>
                      <a:endParaRPr lang="en-US" sz="1400" b="0" strike="noStrike" spc="-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>
                    <a:lnL w="12240">
                      <a:solidFill>
                        <a:srgbClr val="6B6D71"/>
                      </a:solidFill>
                      <a:prstDash val="solid"/>
                    </a:lnL>
                    <a:lnR w="12240">
                      <a:solidFill>
                        <a:srgbClr val="6B6D71"/>
                      </a:solidFill>
                      <a:prstDash val="solid"/>
                    </a:lnR>
                    <a:lnT w="12240">
                      <a:solidFill>
                        <a:srgbClr val="6B6D71"/>
                      </a:solidFill>
                      <a:prstDash val="solid"/>
                    </a:lnT>
                    <a:lnB w="12240">
                      <a:solidFill>
                        <a:srgbClr val="6B6D7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strike="noStrike" spc="-1" dirty="0">
                          <a:solidFill>
                            <a:schemeClr val="tx1"/>
                          </a:solidFill>
                          <a:latin typeface="Metropolis Medium"/>
                        </a:rPr>
                        <a:t>Mohammad Reza Mousavi and Prof. Stephan Ludwig</a:t>
                      </a:r>
                    </a:p>
                  </a:txBody>
                  <a:tcPr>
                    <a:lnL w="12240">
                      <a:solidFill>
                        <a:srgbClr val="6B6D71"/>
                      </a:solidFill>
                      <a:prstDash val="solid"/>
                    </a:lnL>
                    <a:lnR w="12240">
                      <a:solidFill>
                        <a:srgbClr val="6B6D71"/>
                      </a:solidFill>
                      <a:prstDash val="solid"/>
                    </a:lnR>
                    <a:lnT w="12240">
                      <a:solidFill>
                        <a:srgbClr val="6B6D71"/>
                      </a:solidFill>
                      <a:prstDash val="solid"/>
                    </a:lnT>
                    <a:lnB w="12240">
                      <a:solidFill>
                        <a:srgbClr val="6B6D7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chemeClr val="lt1"/>
                          </a:solidFill>
                          <a:latin typeface="Metropolis Medium"/>
                        </a:rPr>
                        <a:t>Track Name</a:t>
                      </a:r>
                      <a:endParaRPr lang="en-US" sz="1400" b="0" strike="noStrike" spc="-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>
                    <a:lnL w="12240">
                      <a:solidFill>
                        <a:srgbClr val="6B6D71"/>
                      </a:solidFill>
                      <a:prstDash val="solid"/>
                    </a:lnL>
                    <a:lnR w="12240">
                      <a:solidFill>
                        <a:srgbClr val="6B6D71"/>
                      </a:solidFill>
                      <a:prstDash val="solid"/>
                    </a:lnR>
                    <a:lnT w="12240">
                      <a:solidFill>
                        <a:srgbClr val="6B6D71"/>
                      </a:solidFill>
                      <a:prstDash val="solid"/>
                    </a:lnT>
                    <a:lnB w="12240">
                      <a:solidFill>
                        <a:srgbClr val="6B6D7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Communication &amp; Next-Generation Networks</a:t>
                      </a:r>
                      <a:endParaRPr lang="en-IN" sz="1600" b="0" strike="noStrike" spc="-1" dirty="0">
                        <a:solidFill>
                          <a:schemeClr val="accent3"/>
                        </a:solidFill>
                        <a:latin typeface="Metropolis Medium"/>
                      </a:endParaRPr>
                    </a:p>
                  </a:txBody>
                  <a:tcPr>
                    <a:lnL w="12240">
                      <a:solidFill>
                        <a:srgbClr val="6B6D71"/>
                      </a:solidFill>
                      <a:prstDash val="solid"/>
                    </a:lnL>
                    <a:lnR w="12240">
                      <a:solidFill>
                        <a:srgbClr val="6B6D71"/>
                      </a:solidFill>
                      <a:prstDash val="solid"/>
                    </a:lnR>
                    <a:lnT w="12240">
                      <a:solidFill>
                        <a:srgbClr val="6B6D71"/>
                      </a:solidFill>
                      <a:prstDash val="solid"/>
                    </a:lnT>
                    <a:lnB w="12240">
                      <a:solidFill>
                        <a:srgbClr val="6B6D7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3" name="TextBox 11"/>
          <p:cNvSpPr/>
          <p:nvPr/>
        </p:nvSpPr>
        <p:spPr>
          <a:xfrm>
            <a:off x="4296960" y="3886920"/>
            <a:ext cx="7609320" cy="94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0" strike="noStrike" spc="-1" dirty="0">
                <a:latin typeface="Metropolis Extra Bold"/>
              </a:rPr>
              <a:t>Measurement-Driven Latency Analysis of UL/DL Scheduling in DECT-2020 NR</a:t>
            </a:r>
            <a:endParaRPr lang="en-US" sz="2800" b="0" strike="noStrike" spc="-1" dirty="0">
              <a:latin typeface="Times New Roman"/>
            </a:endParaRPr>
          </a:p>
        </p:txBody>
      </p:sp>
      <p:pic>
        <p:nvPicPr>
          <p:cNvPr id="74" name="Picture 22"/>
          <p:cNvPicPr/>
          <p:nvPr/>
        </p:nvPicPr>
        <p:blipFill>
          <a:blip r:embed="rId2"/>
          <a:srcRect l="16476" r="9524" b="43228"/>
          <a:stretch/>
        </p:blipFill>
        <p:spPr>
          <a:xfrm rot="5400000">
            <a:off x="-1997280" y="1997640"/>
            <a:ext cx="6857640" cy="2862000"/>
          </a:xfrm>
          <a:prstGeom prst="rect">
            <a:avLst/>
          </a:prstGeom>
          <a:ln w="0">
            <a:noFill/>
          </a:ln>
        </p:spPr>
      </p:pic>
      <p:grpSp>
        <p:nvGrpSpPr>
          <p:cNvPr id="75" name="Group 28"/>
          <p:cNvGrpSpPr/>
          <p:nvPr/>
        </p:nvGrpSpPr>
        <p:grpSpPr>
          <a:xfrm>
            <a:off x="5610240" y="3293280"/>
            <a:ext cx="3988800" cy="598680"/>
            <a:chOff x="5610240" y="3293280"/>
            <a:chExt cx="3988800" cy="598680"/>
          </a:xfrm>
        </p:grpSpPr>
        <p:sp>
          <p:nvSpPr>
            <p:cNvPr id="76" name="Rectangle: Rounded Corners 23"/>
            <p:cNvSpPr/>
            <p:nvPr/>
          </p:nvSpPr>
          <p:spPr>
            <a:xfrm>
              <a:off x="5610240" y="3346200"/>
              <a:ext cx="3988800" cy="48024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831F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accent3"/>
                  </a:solidFill>
                  <a:latin typeface="Metropolis Medium"/>
                </a:rPr>
                <a:t>In Association with</a:t>
              </a:r>
              <a:endParaRPr lang="en-US" sz="1400" b="0" strike="noStrike" spc="-1">
                <a:solidFill>
                  <a:srgbClr val="000000"/>
                </a:solidFill>
                <a:latin typeface="Times New Roman"/>
              </a:endParaRPr>
            </a:p>
          </p:txBody>
        </p:sp>
        <p:pic>
          <p:nvPicPr>
            <p:cNvPr id="77" name="Picture 26"/>
            <p:cNvPicPr/>
            <p:nvPr/>
          </p:nvPicPr>
          <p:blipFill>
            <a:blip r:embed="rId3"/>
            <a:srcRect t="31288" b="31522"/>
            <a:stretch/>
          </p:blipFill>
          <p:spPr>
            <a:xfrm>
              <a:off x="7904160" y="3293280"/>
              <a:ext cx="1589760" cy="59868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78" name="Picture 2"/>
          <p:cNvPicPr/>
          <p:nvPr/>
        </p:nvPicPr>
        <p:blipFill>
          <a:blip r:embed="rId4"/>
          <a:stretch/>
        </p:blipFill>
        <p:spPr>
          <a:xfrm>
            <a:off x="6370560" y="6453000"/>
            <a:ext cx="2475000" cy="25416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4"/>
          <p:cNvPicPr/>
          <p:nvPr/>
        </p:nvPicPr>
        <p:blipFill>
          <a:blip r:embed="rId5"/>
          <a:stretch/>
        </p:blipFill>
        <p:spPr>
          <a:xfrm>
            <a:off x="4570560" y="222840"/>
            <a:ext cx="6240600" cy="1285560"/>
          </a:xfrm>
          <a:prstGeom prst="rect">
            <a:avLst/>
          </a:prstGeom>
          <a:ln w="0">
            <a:noFill/>
          </a:ln>
        </p:spPr>
      </p:pic>
      <p:cxnSp>
        <p:nvCxnSpPr>
          <p:cNvPr id="80" name="Straight Connector 5"/>
          <p:cNvCxnSpPr/>
          <p:nvPr/>
        </p:nvCxnSpPr>
        <p:spPr>
          <a:xfrm>
            <a:off x="4338000" y="1386720"/>
            <a:ext cx="6706080" cy="360"/>
          </a:xfrm>
          <a:prstGeom prst="straightConnector1">
            <a:avLst/>
          </a:prstGeom>
          <a:ln>
            <a:solidFill>
              <a:srgbClr val="6B6D71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b="0" strike="noStrike" spc="-1">
                <a:solidFill>
                  <a:srgbClr val="6B6D71"/>
                </a:solidFill>
                <a:latin typeface="Metropolis Semi Bold"/>
              </a:rPr>
              <a:t>Outline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853560" y="1115280"/>
            <a:ext cx="8340840" cy="44438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/>
              <a:t>Motivation</a:t>
            </a:r>
            <a:endParaRPr lang="ps-AF" sz="1800" b="0" strike="noStrike" spc="-1" dirty="0"/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de-DE" sz="1800" b="0" strike="noStrike" spc="-1" dirty="0"/>
              <a:t>Problem Statement </a:t>
            </a:r>
            <a:endParaRPr lang="en-US" sz="1800" b="0" strike="noStrike" spc="-1" dirty="0"/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/>
              <a:t>System Model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/>
              <a:t>Experimental Setup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/>
              <a:t>Measurement Results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/>
              <a:t>Key Findings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/>
              <a:t>Conclusion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IN" sz="1800" b="0" strike="noStrike" spc="-1" dirty="0"/>
              <a:t>References</a:t>
            </a:r>
            <a:endParaRPr lang="en-US" sz="1800" b="0" strike="noStrike" spc="-1" dirty="0"/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b="0" strike="noStrike" spc="-1" dirty="0">
                <a:solidFill>
                  <a:schemeClr val="dk1"/>
                </a:solidFill>
                <a:latin typeface="Calibri"/>
              </a:rPr>
              <a:t>Motivation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853560" y="1115280"/>
            <a:ext cx="8340840" cy="27818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/>
              <a:t>DECT-2020 NR targets low-latency private and industrial wireless networks.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/>
              <a:t>Existing studies mainly report end-to-end latency.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/>
              <a:t>The internal contribution of UL/DL scheduling and RX–TX turnaround is not well quantified.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/>
              <a:t>This is important for short-packet and request–response industrial traffic.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3</a:t>
            </a:fld>
            <a:endParaRPr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989DF4E0-E5BB-E70F-EA98-36DEF1ED9557}"/>
              </a:ext>
            </a:extLst>
          </p:cNvPr>
          <p:cNvGrpSpPr/>
          <p:nvPr/>
        </p:nvGrpSpPr>
        <p:grpSpPr>
          <a:xfrm>
            <a:off x="853560" y="4322618"/>
            <a:ext cx="8423790" cy="1064029"/>
            <a:chOff x="853560" y="4322618"/>
            <a:chExt cx="8423790" cy="1712422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AD029164-6407-3FA5-B114-252C35692314}"/>
                </a:ext>
              </a:extLst>
            </p:cNvPr>
            <p:cNvSpPr/>
            <p:nvPr/>
          </p:nvSpPr>
          <p:spPr>
            <a:xfrm>
              <a:off x="853560" y="4322618"/>
              <a:ext cx="8423790" cy="1712422"/>
            </a:xfrm>
            <a:prstGeom prst="roundRect">
              <a:avLst>
                <a:gd name="adj" fmla="val 3560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r>
                <a:rPr lang="en-US" dirty="0"/>
                <a:t>How much latency is caused by RX–TX turnaround in practical DECT-2020 NR systems?</a:t>
              </a:r>
              <a:endParaRPr lang="en-DE" dirty="0"/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86195E94-4E23-8D1C-BA9E-A8BAFC72BD8F}"/>
                </a:ext>
              </a:extLst>
            </p:cNvPr>
            <p:cNvSpPr/>
            <p:nvPr/>
          </p:nvSpPr>
          <p:spPr>
            <a:xfrm>
              <a:off x="853560" y="4322618"/>
              <a:ext cx="8423790" cy="432262"/>
            </a:xfrm>
            <a:prstGeom prst="roundRect">
              <a:avLst>
                <a:gd name="adj" fmla="val 1531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/>
                <a:t>Main Question</a:t>
              </a:r>
              <a:endParaRPr lang="en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993298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31630" y="190199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spc="-1" dirty="0">
                <a:latin typeface="Metropolis Semi Bold"/>
              </a:rPr>
              <a:t>Problem Statement and Contribution</a:t>
            </a:r>
            <a:endParaRPr lang="en-US" sz="4000" b="0" strike="noStrike" spc="-1" dirty="0"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853560" y="1115280"/>
            <a:ext cx="8340840" cy="1673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Single-transceiver platforms cannot transmit and receive simultaneously.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Each UL/DL direction change requires hardware and firmware reconfiguration.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This creates RX–TX turnaround delay.</a:t>
            </a:r>
            <a:endParaRPr lang="en-US" sz="18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4</a:t>
            </a:fld>
            <a:endParaRPr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CB74BD7-2ECA-CD58-BD0A-C81066A7E78E}"/>
              </a:ext>
            </a:extLst>
          </p:cNvPr>
          <p:cNvGrpSpPr/>
          <p:nvPr/>
        </p:nvGrpSpPr>
        <p:grpSpPr>
          <a:xfrm>
            <a:off x="795371" y="3320935"/>
            <a:ext cx="8340840" cy="2177934"/>
            <a:chOff x="853560" y="4322618"/>
            <a:chExt cx="8182375" cy="1712422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A5F04CD0-81BC-C08D-6188-0316B3759DE4}"/>
                </a:ext>
              </a:extLst>
            </p:cNvPr>
            <p:cNvSpPr/>
            <p:nvPr/>
          </p:nvSpPr>
          <p:spPr>
            <a:xfrm>
              <a:off x="853560" y="4322618"/>
              <a:ext cx="8182375" cy="1712422"/>
            </a:xfrm>
            <a:prstGeom prst="roundRect">
              <a:avLst>
                <a:gd name="adj" fmla="val 3560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Measurement-based RX–TX turnaround analysis.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Evaluation of sequential and grouped UL scheduling.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Identification of hardware-induced latency limits.</a:t>
              </a:r>
              <a:endParaRPr lang="en-DE" dirty="0"/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1C5D6261-B5B4-9741-FC9E-4986B24FECC8}"/>
                </a:ext>
              </a:extLst>
            </p:cNvPr>
            <p:cNvSpPr/>
            <p:nvPr/>
          </p:nvSpPr>
          <p:spPr>
            <a:xfrm>
              <a:off x="853560" y="4322618"/>
              <a:ext cx="8182375" cy="432262"/>
            </a:xfrm>
            <a:prstGeom prst="roundRect">
              <a:avLst>
                <a:gd name="adj" fmla="val 1531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 err="1"/>
                <a:t>Contributions</a:t>
              </a:r>
              <a:endParaRPr lang="en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089284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spc="-1" dirty="0">
                <a:latin typeface="Metropolis Semi Bold"/>
              </a:rPr>
              <a:t>Latency Components</a:t>
            </a:r>
            <a:endParaRPr lang="en-US" sz="4000" b="0" strike="noStrike" spc="-1" dirty="0"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853560" y="1115280"/>
            <a:ext cx="8340840" cy="27818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End-to-end latency is decomposed as:</a:t>
            </a:r>
          </a:p>
          <a:p>
            <a:pPr defTabSz="914400">
              <a:lnSpc>
                <a:spcPct val="200000"/>
              </a:lnSpc>
              <a:buClr>
                <a:srgbClr val="B22B2F"/>
              </a:buClr>
            </a:pPr>
            <a:r>
              <a:rPr lang="en-US" sz="1800" b="0" strike="noStrike" spc="-1" dirty="0">
                <a:latin typeface="Metropolis Medium"/>
              </a:rPr>
              <a:t>	L</a:t>
            </a:r>
            <a:r>
              <a:rPr lang="en-US" sz="1800" b="0" strike="noStrike" spc="-1" baseline="-25000" dirty="0">
                <a:latin typeface="Metropolis Medium"/>
              </a:rPr>
              <a:t>E2E</a:t>
            </a:r>
            <a:r>
              <a:rPr lang="en-US" sz="1800" b="0" strike="noStrike" spc="-1" dirty="0">
                <a:latin typeface="Metropolis Medium"/>
              </a:rPr>
              <a:t> = </a:t>
            </a:r>
            <a:r>
              <a:rPr lang="en-US" sz="1800" b="0" strike="noStrike" spc="-1" dirty="0" err="1">
                <a:latin typeface="Metropolis Medium"/>
              </a:rPr>
              <a:t>L</a:t>
            </a:r>
            <a:r>
              <a:rPr lang="en-US" sz="1800" b="0" strike="noStrike" spc="-1" baseline="-25000" dirty="0" err="1">
                <a:latin typeface="Metropolis Medium"/>
              </a:rPr>
              <a:t>sched</a:t>
            </a:r>
            <a:r>
              <a:rPr lang="en-US" sz="1800" b="0" strike="noStrike" spc="-1" dirty="0">
                <a:latin typeface="Metropolis Medium"/>
              </a:rPr>
              <a:t> + </a:t>
            </a:r>
            <a:r>
              <a:rPr lang="en-US" sz="1800" b="0" strike="noStrike" spc="-1" dirty="0" err="1">
                <a:latin typeface="Metropolis Medium"/>
              </a:rPr>
              <a:t>L</a:t>
            </a:r>
            <a:r>
              <a:rPr lang="en-US" sz="1800" b="0" strike="noStrike" spc="-1" baseline="-25000" dirty="0" err="1">
                <a:latin typeface="Metropolis Medium"/>
              </a:rPr>
              <a:t>turnaround</a:t>
            </a:r>
            <a:r>
              <a:rPr lang="en-US" sz="1800" b="0" strike="noStrike" spc="-1" dirty="0">
                <a:latin typeface="Metropolis Medium"/>
              </a:rPr>
              <a:t> + L</a:t>
            </a:r>
            <a:r>
              <a:rPr lang="en-US" sz="1800" b="0" strike="noStrike" spc="-1" baseline="-25000" dirty="0">
                <a:latin typeface="Metropolis Medium"/>
              </a:rPr>
              <a:t>PHY</a:t>
            </a:r>
            <a:r>
              <a:rPr lang="en-US" sz="1800" b="0" strike="noStrike" spc="-1" dirty="0">
                <a:latin typeface="Metropolis Medium"/>
              </a:rPr>
              <a:t>    (1)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 err="1">
                <a:latin typeface="Metropolis Medium"/>
              </a:rPr>
              <a:t>L</a:t>
            </a:r>
            <a:r>
              <a:rPr lang="en-US" sz="1800" b="0" strike="noStrike" spc="-1" baseline="-25000" dirty="0" err="1">
                <a:latin typeface="Metropolis Medium"/>
              </a:rPr>
              <a:t>sched</a:t>
            </a:r>
            <a:r>
              <a:rPr lang="en-US" sz="1800" b="0" strike="noStrike" spc="-1" dirty="0">
                <a:latin typeface="Metropolis Medium"/>
              </a:rPr>
              <a:t>: MAC scheduling and queuing delay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 err="1">
                <a:latin typeface="Metropolis Medium"/>
              </a:rPr>
              <a:t>L</a:t>
            </a:r>
            <a:r>
              <a:rPr lang="en-US" sz="1800" b="0" strike="noStrike" spc="-1" baseline="-25000" dirty="0" err="1">
                <a:latin typeface="Metropolis Medium"/>
              </a:rPr>
              <a:t>turnaround</a:t>
            </a:r>
            <a:r>
              <a:rPr lang="en-US" sz="1800" b="0" strike="noStrike" spc="-1" dirty="0">
                <a:latin typeface="Metropolis Medium"/>
              </a:rPr>
              <a:t>: RX–TX switching delay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L</a:t>
            </a:r>
            <a:r>
              <a:rPr lang="en-US" sz="1800" b="0" strike="noStrike" spc="-1" baseline="-25000" dirty="0">
                <a:latin typeface="Metropolis Medium"/>
              </a:rPr>
              <a:t>PHY</a:t>
            </a:r>
            <a:r>
              <a:rPr lang="en-US" sz="1800" b="0" strike="noStrike" spc="-1" dirty="0">
                <a:latin typeface="Metropolis Medium"/>
              </a:rPr>
              <a:t>: physical-layer transmission time</a:t>
            </a:r>
            <a:endParaRPr lang="en-US" sz="18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5</a:t>
            </a:fld>
            <a:endParaRPr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0986055-EAF3-D14C-C244-5A3B1847317A}"/>
              </a:ext>
            </a:extLst>
          </p:cNvPr>
          <p:cNvGrpSpPr/>
          <p:nvPr/>
        </p:nvGrpSpPr>
        <p:grpSpPr>
          <a:xfrm>
            <a:off x="949157" y="4467487"/>
            <a:ext cx="8340840" cy="1275233"/>
            <a:chOff x="853560" y="4322618"/>
            <a:chExt cx="8182375" cy="1712422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9355FEBF-1C34-9EE7-2FDC-40226460B4AD}"/>
                </a:ext>
              </a:extLst>
            </p:cNvPr>
            <p:cNvSpPr/>
            <p:nvPr/>
          </p:nvSpPr>
          <p:spPr>
            <a:xfrm>
              <a:off x="853560" y="4322618"/>
              <a:ext cx="8182375" cy="1712422"/>
            </a:xfrm>
            <a:prstGeom prst="roundRect">
              <a:avLst>
                <a:gd name="adj" fmla="val 3560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r>
                <a:rPr lang="en-US" dirty="0"/>
                <a:t>This work focuses on RX–TX turnaround and scheduling impact.</a:t>
              </a:r>
              <a:endParaRPr lang="en-DE" dirty="0"/>
            </a:p>
          </p:txBody>
        </p:sp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FE500C8B-683B-B3CE-1B87-CA9D4E92D319}"/>
                </a:ext>
              </a:extLst>
            </p:cNvPr>
            <p:cNvSpPr/>
            <p:nvPr/>
          </p:nvSpPr>
          <p:spPr>
            <a:xfrm>
              <a:off x="853560" y="4322618"/>
              <a:ext cx="8182375" cy="432262"/>
            </a:xfrm>
            <a:prstGeom prst="roundRect">
              <a:avLst>
                <a:gd name="adj" fmla="val 1531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/>
                <a:t>Focus</a:t>
              </a:r>
              <a:endParaRPr lang="en-DE" dirty="0"/>
            </a:p>
          </p:txBody>
        </p:sp>
      </p:grpSp>
    </p:spTree>
    <p:extLst>
      <p:ext uri="{BB962C8B-B14F-4D97-AF65-F5344CB8AC3E}">
        <p14:creationId xmlns:p14="http://schemas.microsoft.com/office/powerpoint/2010/main" val="172042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spc="-1" dirty="0">
                <a:latin typeface="Metropolis Semi Bold"/>
              </a:rPr>
              <a:t>System Model</a:t>
            </a:r>
            <a:endParaRPr lang="en-US" sz="4000" b="0" strike="noStrike" spc="-1" dirty="0"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6</a:t>
            </a:fld>
            <a:endParaRPr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DDA8CCC-1B4A-4511-4321-F7A2DD6EB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326" y="25200"/>
            <a:ext cx="5603241" cy="592342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D540302-D049-5D41-A45C-3628B96F742A}"/>
              </a:ext>
            </a:extLst>
          </p:cNvPr>
          <p:cNvSpPr txBox="1"/>
          <p:nvPr/>
        </p:nvSpPr>
        <p:spPr>
          <a:xfrm>
            <a:off x="4431413" y="6012202"/>
            <a:ext cx="6251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</a:t>
            </a:r>
            <a:r>
              <a:rPr lang="en-DE" dirty="0"/>
              <a:t> 1</a:t>
            </a:r>
            <a:r>
              <a:rPr lang="en-US" dirty="0"/>
              <a:t>: Industrial sensor–actuator DECT-2020 NR star topology.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79548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spc="-1" dirty="0">
                <a:latin typeface="Metropolis Semi Bold"/>
              </a:rPr>
              <a:t>Experimental Setup</a:t>
            </a:r>
            <a:endParaRPr lang="en-US" sz="4000" b="0" strike="noStrike" spc="-1" dirty="0"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101048" y="1056217"/>
            <a:ext cx="3219497" cy="5551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One nRF9151 node</a:t>
            </a:r>
            <a:r>
              <a:rPr lang="en-DE" sz="1800" b="0" strike="noStrike" spc="-1" dirty="0">
                <a:latin typeface="Metropolis Medium"/>
              </a:rPr>
              <a:t> </a:t>
            </a:r>
            <a:r>
              <a:rPr lang="en-US" sz="1800" b="0" strike="noStrike" spc="-1" dirty="0">
                <a:latin typeface="Metropolis Medium"/>
              </a:rPr>
              <a:t>configured as Fixed</a:t>
            </a:r>
            <a:r>
              <a:rPr lang="en-DE" sz="1800" b="0" strike="noStrike" spc="-1" dirty="0">
                <a:latin typeface="Metropolis Medium"/>
              </a:rPr>
              <a:t> </a:t>
            </a:r>
            <a:r>
              <a:rPr lang="en-US" sz="1800" b="0" strike="noStrike" spc="-1" dirty="0">
                <a:latin typeface="Metropolis Medium"/>
              </a:rPr>
              <a:t>Termination (FT)</a:t>
            </a:r>
            <a:endParaRPr lang="en-DE" sz="1800" b="0" strike="noStrike" spc="-1" dirty="0">
              <a:latin typeface="Metropolis Medium"/>
            </a:endParaRP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One nRF9151 node</a:t>
            </a:r>
            <a:r>
              <a:rPr lang="en-DE" sz="1800" b="0" strike="noStrike" spc="-1" dirty="0">
                <a:latin typeface="Metropolis Medium"/>
              </a:rPr>
              <a:t> </a:t>
            </a:r>
            <a:r>
              <a:rPr lang="en-US" sz="1800" b="0" strike="noStrike" spc="-1" dirty="0">
                <a:latin typeface="Metropolis Medium"/>
              </a:rPr>
              <a:t>configured as Portable</a:t>
            </a:r>
            <a:r>
              <a:rPr lang="en-DE" sz="1800" b="0" strike="noStrike" spc="-1" dirty="0">
                <a:latin typeface="Metropolis Medium"/>
              </a:rPr>
              <a:t> </a:t>
            </a:r>
            <a:r>
              <a:rPr lang="en-US" sz="1800" b="0" strike="noStrike" spc="-1" dirty="0">
                <a:latin typeface="Metropolis Medium"/>
              </a:rPr>
              <a:t>Termination (PT)</a:t>
            </a:r>
            <a:endParaRPr lang="en-DE" sz="1800" b="0" strike="noStrike" spc="-1" dirty="0">
              <a:latin typeface="Metropolis Medium"/>
            </a:endParaRP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GPIO timing marker</a:t>
            </a:r>
            <a:r>
              <a:rPr lang="en-DE" sz="1800" b="0" strike="noStrike" spc="-1" dirty="0">
                <a:latin typeface="Metropolis Medium"/>
              </a:rPr>
              <a:t> </a:t>
            </a:r>
            <a:r>
              <a:rPr lang="en-US" sz="1800" b="0" strike="noStrike" spc="-1" dirty="0">
                <a:latin typeface="Metropolis Medium"/>
              </a:rPr>
              <a:t>capture:</a:t>
            </a:r>
            <a:r>
              <a:rPr lang="en-DE" sz="1800" b="0" strike="noStrike" spc="-1" dirty="0">
                <a:latin typeface="Metropolis Medium"/>
              </a:rPr>
              <a:t> </a:t>
            </a:r>
            <a:r>
              <a:rPr lang="en-US" sz="1800" b="0" strike="noStrike" spc="-1" dirty="0">
                <a:latin typeface="Metropolis Medium"/>
              </a:rPr>
              <a:t>RX completion</a:t>
            </a:r>
            <a:r>
              <a:rPr lang="en-DE" sz="1800" b="0" strike="noStrike" spc="-1" dirty="0">
                <a:latin typeface="Metropolis Medium"/>
              </a:rPr>
              <a:t> </a:t>
            </a:r>
            <a:r>
              <a:rPr lang="en-US" sz="1800" b="0" strike="noStrike" spc="-1" dirty="0">
                <a:latin typeface="Metropolis Medium"/>
              </a:rPr>
              <a:t>TX initiation</a:t>
            </a:r>
            <a:endParaRPr lang="en-DE" sz="1800" b="0" strike="noStrike" spc="-1" dirty="0">
              <a:latin typeface="Metropolis Medium"/>
            </a:endParaRP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DSO used for ground-truth</a:t>
            </a:r>
            <a:r>
              <a:rPr lang="en-DE" sz="1800" b="0" strike="noStrike" spc="-1" dirty="0">
                <a:latin typeface="Metropolis Medium"/>
              </a:rPr>
              <a:t> </a:t>
            </a:r>
            <a:r>
              <a:rPr lang="en-US" sz="1800" b="0" strike="noStrike" spc="-1" dirty="0">
                <a:latin typeface="Metropolis Medium"/>
              </a:rPr>
              <a:t>RX–TX turnaround</a:t>
            </a:r>
            <a:endParaRPr lang="en-US" sz="18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7</a:t>
            </a:fld>
            <a:endParaRPr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CDDF3EF-8DC2-7100-5171-85724858D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191" y="1041519"/>
            <a:ext cx="8918929" cy="494743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8CA3667-B033-611A-15DE-515FDD14159E}"/>
              </a:ext>
            </a:extLst>
          </p:cNvPr>
          <p:cNvSpPr txBox="1"/>
          <p:nvPr/>
        </p:nvSpPr>
        <p:spPr>
          <a:xfrm>
            <a:off x="3887745" y="6168269"/>
            <a:ext cx="805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</a:t>
            </a:r>
            <a:r>
              <a:rPr lang="en-DE" dirty="0"/>
              <a:t> 2</a:t>
            </a:r>
            <a:r>
              <a:rPr lang="en-US" dirty="0"/>
              <a:t>: Laboratory setup using two nRF9151 nodes</a:t>
            </a:r>
            <a:r>
              <a:rPr lang="en-DE" dirty="0"/>
              <a:t> </a:t>
            </a:r>
            <a:r>
              <a:rPr lang="en-US" dirty="0"/>
              <a:t>and DSO measurements.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962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spc="-1" dirty="0">
                <a:latin typeface="Metropolis Semi Bold"/>
              </a:rPr>
              <a:t>Measurement Result</a:t>
            </a:r>
            <a:endParaRPr lang="en-US" sz="4000" b="0" strike="noStrike" spc="-1" dirty="0"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8</a:t>
            </a:fld>
            <a:endParaRPr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219F450-1924-C20F-DF15-055F52343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25" y="1115280"/>
            <a:ext cx="6156960" cy="486399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E3F05CE-32FD-AAD4-C568-5DC3D4E51A78}"/>
              </a:ext>
            </a:extLst>
          </p:cNvPr>
          <p:cNvSpPr txBox="1"/>
          <p:nvPr/>
        </p:nvSpPr>
        <p:spPr>
          <a:xfrm>
            <a:off x="5692264" y="6101673"/>
            <a:ext cx="6405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3: RX–TX turnaround measured using GPIO timing markers. </a:t>
            </a:r>
            <a:endParaRPr lang="en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FB28453-51D4-00B8-46DE-D0D2E3CDE14B}"/>
              </a:ext>
            </a:extLst>
          </p:cNvPr>
          <p:cNvSpPr txBox="1"/>
          <p:nvPr/>
        </p:nvSpPr>
        <p:spPr>
          <a:xfrm>
            <a:off x="254000" y="1220311"/>
            <a:ext cx="5244640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de-DE" dirty="0"/>
              <a:t>UL </a:t>
            </a:r>
            <a:r>
              <a:rPr lang="de-DE" dirty="0" err="1"/>
              <a:t>transmission</a:t>
            </a:r>
            <a:r>
              <a:rPr lang="de-DE" dirty="0"/>
              <a:t> </a:t>
            </a:r>
            <a:r>
              <a:rPr lang="de-DE" dirty="0" err="1"/>
              <a:t>completed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FT</a:t>
            </a:r>
          </a:p>
          <a:p>
            <a:pPr marL="285750" indent="-28575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de-DE" dirty="0"/>
              <a:t>FT </a:t>
            </a:r>
            <a:r>
              <a:rPr lang="de-DE" dirty="0" err="1"/>
              <a:t>reconfigured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RX </a:t>
            </a:r>
            <a:r>
              <a:rPr lang="de-DE" dirty="0" err="1"/>
              <a:t>to</a:t>
            </a:r>
            <a:r>
              <a:rPr lang="de-DE" dirty="0"/>
              <a:t> TX </a:t>
            </a:r>
            <a:r>
              <a:rPr lang="de-DE" dirty="0" err="1"/>
              <a:t>mode</a:t>
            </a:r>
            <a:endParaRPr lang="de-DE" dirty="0"/>
          </a:p>
          <a:p>
            <a:pPr marL="285750" indent="-28575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de-DE" dirty="0" err="1"/>
              <a:t>Measured</a:t>
            </a:r>
            <a:r>
              <a:rPr lang="de-DE" dirty="0"/>
              <a:t> RX–TX </a:t>
            </a:r>
            <a:r>
              <a:rPr lang="de-DE" dirty="0" err="1"/>
              <a:t>turnaround</a:t>
            </a:r>
            <a:r>
              <a:rPr lang="de-DE" dirty="0"/>
              <a:t>:</a:t>
            </a:r>
          </a:p>
          <a:p>
            <a:pPr lvl="5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de-DE" dirty="0"/>
              <a:t>T</a:t>
            </a:r>
            <a:r>
              <a:rPr lang="de-DE" baseline="-25000" dirty="0"/>
              <a:t>RX−TX</a:t>
            </a:r>
            <a:r>
              <a:rPr lang="de-DE" dirty="0"/>
              <a:t>≈850 </a:t>
            </a:r>
            <a:r>
              <a:rPr lang="el-GR" dirty="0"/>
              <a:t>μ</a:t>
            </a:r>
            <a:r>
              <a:rPr lang="de-DE" dirty="0"/>
              <a:t>s</a:t>
            </a:r>
          </a:p>
          <a:p>
            <a:pPr marL="285750" indent="-28575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de-DE" dirty="0" err="1"/>
              <a:t>Corresponds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approximately</a:t>
            </a:r>
            <a:r>
              <a:rPr lang="de-DE" dirty="0"/>
              <a:t>:</a:t>
            </a:r>
          </a:p>
          <a:p>
            <a:pPr>
              <a:lnSpc>
                <a:spcPct val="150000"/>
              </a:lnSpc>
            </a:pPr>
            <a:r>
              <a:rPr lang="de-DE" dirty="0"/>
              <a:t>			2 DECT-2020 NR </a:t>
            </a:r>
            <a:r>
              <a:rPr lang="de-DE" dirty="0" err="1"/>
              <a:t>slots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61596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b="0" strike="noStrike" spc="-1" dirty="0">
                <a:latin typeface="Metropolis Semi Bold"/>
              </a:rPr>
              <a:t>Cross-Validation Using Internal Modem Timing</a:t>
            </a:r>
            <a:endParaRPr lang="en-US" sz="4000" b="0" strike="noStrike" spc="-1" dirty="0"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4756150" y="987464"/>
            <a:ext cx="7336970" cy="3968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[00:00:00.692,474] &lt;inf&gt; r3phy: DECT NR+ modem latency info (in modem ticks</a:t>
            </a: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) [1 slot = 28800 modem ticks]: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[00:00:00.693,084] &lt;inf&gt; r3phy: Operation latencies: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[00:00:00.693,115] &lt;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inf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&gt; r3phy: RX: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[00:00:00.693,115] &lt;inf&gt; r3phy: Idle to RX start latency</a:t>
            </a: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: 22118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[00:00:00.693,145] &lt;inf&gt; r3phy: RX op end latency: </a:t>
            </a: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12441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[00:00:00.693,145] &lt;inf&gt; r3phy: RX op with RSSI end latency: 16588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[00:00:00.693,145] &lt;inf&gt; r3phy: RX op stop request latency: 14169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[00:00:00.693,176] &lt;inf&gt; r3phy: RSSI measurement op end latency: 13132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[00:00:00.693,176] &lt;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inf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&gt; r3phy: TX: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[00:00:00.693,176] &lt;inf&gt; r3phy: TX start latency: </a:t>
            </a: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29030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[00:00:00.693,206] &lt;inf&gt; r3phy: TX end latency: </a:t>
            </a: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7603</a:t>
            </a:r>
          </a:p>
          <a:p>
            <a:endParaRPr lang="en-US" spc="-1" dirty="0">
              <a:solidFill>
                <a:srgbClr val="000000"/>
              </a:solidFill>
              <a:highlight>
                <a:srgbClr val="808000"/>
              </a:highlight>
              <a:latin typeface="Arial" panose="020B0604020202020204" pitchFamily="34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9</a:t>
            </a:fld>
            <a:endParaRPr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C5C9F0A-97B3-81E8-9D5F-455EFCF269B0}"/>
              </a:ext>
            </a:extLst>
          </p:cNvPr>
          <p:cNvGrpSpPr/>
          <p:nvPr/>
        </p:nvGrpSpPr>
        <p:grpSpPr>
          <a:xfrm>
            <a:off x="12600" y="1065846"/>
            <a:ext cx="4680050" cy="5093653"/>
            <a:chOff x="853560" y="4322618"/>
            <a:chExt cx="8182375" cy="1245504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1DE31322-772C-A06B-95CA-067BCC259142}"/>
                </a:ext>
              </a:extLst>
            </p:cNvPr>
            <p:cNvSpPr/>
            <p:nvPr/>
          </p:nvSpPr>
          <p:spPr>
            <a:xfrm>
              <a:off x="853560" y="4322618"/>
              <a:ext cx="8182375" cy="1245504"/>
            </a:xfrm>
            <a:prstGeom prst="roundRect">
              <a:avLst>
                <a:gd name="adj" fmla="val 3560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endParaRPr lang="de-DE" dirty="0"/>
            </a:p>
            <a:p>
              <a:endParaRPr lang="de-DE" dirty="0"/>
            </a:p>
            <a:p>
              <a:endParaRPr lang="de-DE" dirty="0"/>
            </a:p>
            <a:p>
              <a:r>
                <a:rPr lang="en-US" sz="1800" b="0" strike="noStrike" spc="-1" dirty="0">
                  <a:solidFill>
                    <a:srgbClr val="000000"/>
                  </a:solidFill>
                  <a:latin typeface="Metropolis Medium"/>
                </a:rPr>
                <a:t>Internal modem timing independently confirms the measured RX–TX turnaround delay.</a:t>
              </a:r>
            </a:p>
            <a:p>
              <a:endParaRPr lang="de-DE" dirty="0"/>
            </a:p>
            <a:p>
              <a:r>
                <a:rPr lang="en-DE" dirty="0">
                  <a:solidFill>
                    <a:schemeClr val="tx1"/>
                  </a:solidFill>
                </a:rPr>
                <a:t>Idle → RX start      = 22118 ticks</a:t>
              </a:r>
            </a:p>
            <a:p>
              <a:r>
                <a:rPr lang="en-DE" dirty="0">
                  <a:solidFill>
                    <a:schemeClr val="tx1"/>
                  </a:solidFill>
                </a:rPr>
                <a:t>RX processing        = 12441 ticks</a:t>
              </a:r>
            </a:p>
            <a:p>
              <a:r>
                <a:rPr lang="en-DE" dirty="0">
                  <a:solidFill>
                    <a:schemeClr val="tx1"/>
                  </a:solidFill>
                </a:rPr>
                <a:t>TX start            </a:t>
              </a:r>
              <a:r>
                <a:rPr lang="de-DE" dirty="0">
                  <a:solidFill>
                    <a:schemeClr val="tx1"/>
                  </a:solidFill>
                </a:rPr>
                <a:t>      </a:t>
              </a:r>
              <a:r>
                <a:rPr lang="en-DE" dirty="0">
                  <a:solidFill>
                    <a:schemeClr val="tx1"/>
                  </a:solidFill>
                </a:rPr>
                <a:t> = 29030 ticks</a:t>
              </a:r>
            </a:p>
            <a:p>
              <a:r>
                <a:rPr lang="en-DE" dirty="0">
                  <a:solidFill>
                    <a:schemeClr val="tx1"/>
                  </a:solidFill>
                </a:rPr>
                <a:t>TX completion       = 7603 ticks</a:t>
              </a:r>
              <a:endParaRPr lang="de-DE" dirty="0">
                <a:solidFill>
                  <a:schemeClr val="tx1"/>
                </a:solidFill>
              </a:endParaRPr>
            </a:p>
            <a:p>
              <a:endParaRPr lang="en-DE" dirty="0">
                <a:solidFill>
                  <a:schemeClr val="tx1"/>
                </a:solidFill>
              </a:endParaRPr>
            </a:p>
            <a:p>
              <a:r>
                <a:rPr lang="de-DE" dirty="0" err="1">
                  <a:solidFill>
                    <a:schemeClr val="tx1"/>
                  </a:solidFill>
                </a:rPr>
                <a:t>T</a:t>
              </a:r>
              <a:r>
                <a:rPr lang="de-DE" baseline="-25000" dirty="0" err="1">
                  <a:solidFill>
                    <a:schemeClr val="tx1"/>
                  </a:solidFill>
                </a:rPr>
                <a:t>modem</a:t>
              </a:r>
              <a:r>
                <a:rPr lang="de-DE" dirty="0">
                  <a:solidFill>
                    <a:schemeClr val="tx1"/>
                  </a:solidFill>
                </a:rPr>
                <a:t>​=22118+12441+29030+7603=71192 </a:t>
              </a:r>
              <a:r>
                <a:rPr lang="de-DE" dirty="0" err="1">
                  <a:solidFill>
                    <a:schemeClr val="tx1"/>
                  </a:solidFill>
                </a:rPr>
                <a:t>ticks</a:t>
              </a:r>
              <a:endParaRPr lang="de-DE" dirty="0">
                <a:solidFill>
                  <a:schemeClr val="tx1"/>
                </a:solidFill>
              </a:endParaRPr>
            </a:p>
            <a:p>
              <a:endParaRPr lang="de-DE" dirty="0"/>
            </a:p>
            <a:p>
              <a:r>
                <a:rPr lang="de-DE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71192 ticks≈2.47 slots≈850</a:t>
              </a:r>
              <a:r>
                <a:rPr lang="el-GR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μ</a:t>
              </a:r>
              <a:r>
                <a:rPr lang="de-DE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s</a:t>
              </a:r>
              <a:endParaRPr lang="en-DE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  <a:p>
              <a:endParaRPr lang="en-US" dirty="0"/>
            </a:p>
          </p:txBody>
        </p:sp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B8882ED3-0EF8-38D8-DEE6-0D0BDDB02507}"/>
                </a:ext>
              </a:extLst>
            </p:cNvPr>
            <p:cNvSpPr/>
            <p:nvPr/>
          </p:nvSpPr>
          <p:spPr>
            <a:xfrm>
              <a:off x="853560" y="4322618"/>
              <a:ext cx="8182375" cy="209312"/>
            </a:xfrm>
            <a:prstGeom prst="roundRect">
              <a:avLst>
                <a:gd name="adj" fmla="val 1531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/>
                <a:t>Validation Summary</a:t>
              </a:r>
              <a:endParaRPr lang="en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534297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spc="-1" dirty="0">
                <a:latin typeface="Metropolis Semi Bold"/>
              </a:rPr>
              <a:t>Scheduling Scenarios</a:t>
            </a:r>
            <a:endParaRPr lang="en-US" sz="4000" b="0" strike="noStrike" spc="-1" dirty="0"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10</a:t>
            </a:fld>
            <a:endParaRPr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F2BDE145-E6D0-2B9C-5666-AAA0F9A21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182" y="4393864"/>
            <a:ext cx="4871498" cy="87149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EBD15C4-959F-EE6F-E9D3-A5E3BB159F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18" y="4606193"/>
            <a:ext cx="5486039" cy="65916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3E8AA116-612F-6F0D-20C1-6853A6461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7" y="1159289"/>
            <a:ext cx="5039245" cy="3342651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97A7457D-7A63-2E41-18B7-9C059F4D9E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36" y="1157781"/>
            <a:ext cx="5198686" cy="3448412"/>
          </a:xfrm>
          <a:prstGeom prst="rect">
            <a:avLst/>
          </a:prstGeom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4DD5045C-FA7C-3AF4-52E8-13919392D0CA}"/>
              </a:ext>
            </a:extLst>
          </p:cNvPr>
          <p:cNvSpPr/>
          <p:nvPr/>
        </p:nvSpPr>
        <p:spPr>
          <a:xfrm>
            <a:off x="646318" y="5025427"/>
            <a:ext cx="5449682" cy="5672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200000"/>
              </a:lnSpc>
              <a:buClr>
                <a:srgbClr val="B22B2F"/>
              </a:buClr>
            </a:pPr>
            <a:r>
              <a:rPr lang="en-DE" sz="1800" b="0" strike="noStrike" spc="-1" dirty="0">
                <a:solidFill>
                  <a:schemeClr val="accent3"/>
                </a:solidFill>
                <a:latin typeface="Metropolis Medium"/>
              </a:rPr>
              <a:t>Figure 4 Scenario 1 </a:t>
            </a:r>
            <a:r>
              <a:rPr lang="en-US" sz="1800" b="0" strike="noStrike" spc="-1" dirty="0">
                <a:solidFill>
                  <a:schemeClr val="accent3"/>
                </a:solidFill>
                <a:latin typeface="Metropolis Medium"/>
              </a:rPr>
              <a:t>Sequential UL scheduling</a:t>
            </a:r>
            <a:r>
              <a:rPr lang="en-DE" spc="-1" dirty="0">
                <a:solidFill>
                  <a:schemeClr val="accent3"/>
                </a:solidFill>
                <a:latin typeface="Metropolis Medium"/>
              </a:rPr>
              <a:t>.</a:t>
            </a:r>
            <a:endParaRPr lang="en-US" sz="1800" b="0" strike="noStrike" spc="-1" dirty="0">
              <a:solidFill>
                <a:schemeClr val="accent3"/>
              </a:solidFill>
              <a:latin typeface="Metropolis Medium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9FF5ABD-257D-4BD6-6C1D-FD002359B134}"/>
              </a:ext>
            </a:extLst>
          </p:cNvPr>
          <p:cNvSpPr txBox="1"/>
          <p:nvPr/>
        </p:nvSpPr>
        <p:spPr>
          <a:xfrm>
            <a:off x="6674588" y="5025427"/>
            <a:ext cx="6097772" cy="56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200000"/>
              </a:lnSpc>
              <a:buClr>
                <a:srgbClr val="B22B2F"/>
              </a:buClr>
            </a:pPr>
            <a:r>
              <a:rPr lang="en-DE" spc="-1" dirty="0">
                <a:solidFill>
                  <a:schemeClr val="accent3"/>
                </a:solidFill>
                <a:latin typeface="Metropolis Medium"/>
              </a:rPr>
              <a:t>Figure 5</a:t>
            </a:r>
            <a:r>
              <a:rPr lang="de-DE" spc="-1" dirty="0">
                <a:solidFill>
                  <a:schemeClr val="accent3"/>
                </a:solidFill>
                <a:latin typeface="Metropolis Medium"/>
              </a:rPr>
              <a:t>: Scenario 2 </a:t>
            </a:r>
            <a:r>
              <a:rPr lang="en-US" sz="1800" b="0" strike="noStrike" spc="-1" dirty="0">
                <a:solidFill>
                  <a:schemeClr val="accent3"/>
                </a:solidFill>
                <a:latin typeface="Metropolis Medium"/>
              </a:rPr>
              <a:t>Grouped UL scheduling.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CED01DD-BFF4-7D92-F68F-03F834E355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70" y="5708489"/>
            <a:ext cx="5447187" cy="75258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A38FB0A-8AC6-D7AB-FB72-A1D85BDF8D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763" y="5592698"/>
            <a:ext cx="5553850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33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spc="-1" dirty="0">
                <a:latin typeface="Metropolis Semi Bold"/>
              </a:rPr>
              <a:t>Key findings</a:t>
            </a:r>
            <a:endParaRPr lang="en-US" sz="4000" b="0" strike="noStrike" spc="-1" dirty="0"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853560" y="1115280"/>
            <a:ext cx="8340840" cy="22278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solidFill>
                  <a:schemeClr val="accent3"/>
                </a:solidFill>
                <a:latin typeface="Metropolis Medium"/>
              </a:rPr>
              <a:t>RX–TX turnaround is a significant latency component.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solidFill>
                  <a:schemeClr val="accent3"/>
                </a:solidFill>
                <a:latin typeface="Metropolis Medium"/>
              </a:rPr>
              <a:t>Sequential scheduling accumulates more delay due to frequent UL/DL alternation.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solidFill>
                  <a:schemeClr val="accent3"/>
                </a:solidFill>
                <a:latin typeface="Metropolis Medium"/>
              </a:rPr>
              <a:t>Grouped scheduling helps, but only partially.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solidFill>
                  <a:schemeClr val="accent3"/>
                </a:solidFill>
                <a:latin typeface="Metropolis Medium"/>
              </a:rPr>
              <a:t>On single-transceiver hardware, scheduling alone cannot eliminate the bottleneck.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11</a:t>
            </a:fld>
            <a:endParaRPr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8F5AD9F-C4AB-DFB7-C917-F680CC13EC7A}"/>
              </a:ext>
            </a:extLst>
          </p:cNvPr>
          <p:cNvGrpSpPr/>
          <p:nvPr/>
        </p:nvGrpSpPr>
        <p:grpSpPr>
          <a:xfrm>
            <a:off x="466049" y="3775043"/>
            <a:ext cx="9911327" cy="1743256"/>
            <a:chOff x="853560" y="4322618"/>
            <a:chExt cx="8182375" cy="1370652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036E802E-AF19-F75E-673C-EEE078469256}"/>
                </a:ext>
              </a:extLst>
            </p:cNvPr>
            <p:cNvSpPr/>
            <p:nvPr/>
          </p:nvSpPr>
          <p:spPr>
            <a:xfrm>
              <a:off x="853560" y="4322618"/>
              <a:ext cx="8182375" cy="1370652"/>
            </a:xfrm>
            <a:prstGeom prst="roundRect">
              <a:avLst>
                <a:gd name="adj" fmla="val 3560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Latency is strongly constrained by hardware RX–TX turnaround, not only by MAC scheduling.</a:t>
              </a:r>
              <a:endParaRPr lang="en-DE" dirty="0"/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DF77D632-B616-9A16-AE39-2D762FFC4C06}"/>
                </a:ext>
              </a:extLst>
            </p:cNvPr>
            <p:cNvSpPr/>
            <p:nvPr/>
          </p:nvSpPr>
          <p:spPr>
            <a:xfrm>
              <a:off x="853560" y="4322618"/>
              <a:ext cx="8182375" cy="432262"/>
            </a:xfrm>
            <a:prstGeom prst="roundRect">
              <a:avLst>
                <a:gd name="adj" fmla="val 1531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/>
                <a:t>Main Insight</a:t>
              </a:r>
              <a:endParaRPr lang="en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316395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b="0" strike="noStrike" spc="-1" dirty="0">
                <a:solidFill>
                  <a:srgbClr val="6B6D71"/>
                </a:solidFill>
                <a:latin typeface="Metropolis Semi Bold"/>
              </a:rPr>
              <a:t>Conclusion</a:t>
            </a:r>
            <a:endParaRPr lang="en-US" sz="40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33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853560" y="1115280"/>
            <a:ext cx="8340840" cy="27818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This work presented a measurement-driven latency analysis of DECT-2020NR.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RX–TX turnaround was measured at approximately 850 </a:t>
            </a:r>
            <a:r>
              <a:rPr lang="en-US" sz="1800" b="0" strike="noStrike" spc="-1" dirty="0" err="1">
                <a:latin typeface="Metropolis Medium"/>
              </a:rPr>
              <a:t>μs</a:t>
            </a:r>
            <a:r>
              <a:rPr lang="en-US" sz="1800" b="0" strike="noStrike" spc="-1" dirty="0">
                <a:latin typeface="Metropolis Medium"/>
              </a:rPr>
              <a:t>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This delay is nearly two DECT-2020 NR slots.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Turnaround dominates short-packet and request–response traffic.</a:t>
            </a:r>
          </a:p>
          <a:p>
            <a:pPr marL="285840" indent="-285840" defTabSz="914400">
              <a:lnSpc>
                <a:spcPct val="200000"/>
              </a:lnSpc>
              <a:buClr>
                <a:srgbClr val="B22B2F"/>
              </a:buClr>
              <a:buFont typeface="Wingdings" charset="2"/>
              <a:buChar char=""/>
            </a:pPr>
            <a:r>
              <a:rPr lang="en-US" sz="1800" b="0" strike="noStrike" spc="-1" dirty="0">
                <a:latin typeface="Metropolis Medium"/>
              </a:rPr>
              <a:t>Low-latency DECT-2020 NR design requires hardware-aware scheduling.</a:t>
            </a:r>
            <a:endParaRPr lang="en-US" sz="18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230F85-325C-453F-B648-01EDB0F58EC9}" type="slidenum">
              <a:t>12</a:t>
            </a:fld>
            <a:endParaRPr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498D3FA-B0AC-1332-9FEE-CD77D97C801A}"/>
              </a:ext>
            </a:extLst>
          </p:cNvPr>
          <p:cNvGrpSpPr/>
          <p:nvPr/>
        </p:nvGrpSpPr>
        <p:grpSpPr>
          <a:xfrm>
            <a:off x="853560" y="4143227"/>
            <a:ext cx="9761039" cy="2187473"/>
            <a:chOff x="853560" y="4322618"/>
            <a:chExt cx="8182375" cy="1712422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A8083A4F-2A3E-ED71-3287-6EDDF60CDFC3}"/>
                </a:ext>
              </a:extLst>
            </p:cNvPr>
            <p:cNvSpPr/>
            <p:nvPr/>
          </p:nvSpPr>
          <p:spPr>
            <a:xfrm>
              <a:off x="853560" y="4322618"/>
              <a:ext cx="8182375" cy="1712422"/>
            </a:xfrm>
            <a:prstGeom prst="roundRect">
              <a:avLst>
                <a:gd name="adj" fmla="val 3560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defTabSz="914400">
                <a:lnSpc>
                  <a:spcPct val="200000"/>
                </a:lnSpc>
                <a:buClr>
                  <a:srgbClr val="B22B2F"/>
                </a:buClr>
              </a:pPr>
              <a:r>
                <a:rPr lang="en-US" sz="1800" b="0" strike="noStrike" spc="-1" dirty="0">
                  <a:latin typeface="Metropolis Medium"/>
                </a:rPr>
                <a:t>Future DECT-2020 NR systems should consider: separate RX and TX chains, UL/DL resource separation, turnaround-aware scheduling, hybrid low-latency operating modes</a:t>
              </a:r>
              <a:r>
                <a:rPr lang="en-US" sz="1800" b="0" strike="noStrike" spc="-1" dirty="0">
                  <a:solidFill>
                    <a:schemeClr val="accent3"/>
                  </a:solidFill>
                  <a:latin typeface="Metropolis Medium"/>
                </a:rPr>
                <a:t>.</a:t>
              </a:r>
              <a:endParaRPr lang="en-US" sz="1800" b="0" strike="noStrike" spc="-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99DBFA16-CBA7-DC40-8540-6E6EC2815088}"/>
                </a:ext>
              </a:extLst>
            </p:cNvPr>
            <p:cNvSpPr/>
            <p:nvPr/>
          </p:nvSpPr>
          <p:spPr>
            <a:xfrm>
              <a:off x="853560" y="4322618"/>
              <a:ext cx="8182375" cy="432262"/>
            </a:xfrm>
            <a:prstGeom prst="roundRect">
              <a:avLst>
                <a:gd name="adj" fmla="val 1531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800" spc="-1" dirty="0">
                  <a:solidFill>
                    <a:schemeClr val="bg1"/>
                  </a:solidFill>
                  <a:latin typeface="Metropolis Semi Bold"/>
                </a:rPr>
                <a:t>Design Implications</a:t>
              </a:r>
              <a:endParaRPr lang="en-DE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6594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99880" y="203040"/>
            <a:ext cx="97610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b="0" strike="noStrike" spc="-1">
                <a:solidFill>
                  <a:srgbClr val="6B6D71"/>
                </a:solidFill>
                <a:latin typeface="Metropolis Semi Bold"/>
              </a:rPr>
              <a:t>References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41"/>
          </p:nvPr>
        </p:nvSpPr>
        <p:spPr>
          <a:xfrm>
            <a:off x="12600" y="6576840"/>
            <a:ext cx="5486040" cy="2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strike="noStrike" spc="-1">
                <a:solidFill>
                  <a:schemeClr val="lt1">
                    <a:tint val="75000"/>
                  </a:schemeClr>
                </a:solidFill>
                <a:latin typeface="Metropolis"/>
              </a:rPr>
              <a:t>Dr. D. Y. Patil Institute of Technology</a:t>
            </a:r>
            <a:endParaRPr lang="en-US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299880" y="1084482"/>
            <a:ext cx="11840858" cy="54923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ETSI, “Dect-2020 new radio (nr); part 1: Overview; release 2,” European Telecommunications Standards Institute, Sophia Antipolis, </a:t>
            </a:r>
            <a:r>
              <a:rPr lang="en-US" sz="1300" b="0" strike="noStrike" spc="-1" dirty="0" err="1">
                <a:latin typeface="Metropolis"/>
              </a:rPr>
              <a:t>France,Tech</a:t>
            </a:r>
            <a:r>
              <a:rPr lang="en-US" sz="1300" b="0" strike="noStrike" spc="-1" dirty="0">
                <a:latin typeface="Metropolis"/>
              </a:rPr>
              <a:t>. Rep. ETSI TS 103 636-1 V2.1.1, 2024.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R. </a:t>
            </a:r>
            <a:r>
              <a:rPr lang="en-US" sz="1300" b="0" strike="noStrike" spc="-1" dirty="0" err="1">
                <a:latin typeface="Metropolis"/>
              </a:rPr>
              <a:t>Kovalchukov</a:t>
            </a:r>
            <a:r>
              <a:rPr lang="en-US" sz="1300" b="0" strike="noStrike" spc="-1" dirty="0">
                <a:latin typeface="Metropolis"/>
              </a:rPr>
              <a:t> et al., “DECT-2020 New Radio: The Next Step toward 5G Massive Machine-Type Communications,” IEEE Communications Magazine, vol. 60, no. 6, pp. 58–64, Jun. 2022.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H. </a:t>
            </a:r>
            <a:r>
              <a:rPr lang="en-US" sz="1300" b="0" strike="noStrike" spc="-1" dirty="0" err="1">
                <a:latin typeface="Metropolis"/>
              </a:rPr>
              <a:t>Holma</a:t>
            </a:r>
            <a:r>
              <a:rPr lang="en-US" sz="1300" b="0" strike="noStrike" spc="-1" dirty="0">
                <a:latin typeface="Metropolis"/>
              </a:rPr>
              <a:t> et al., “Dect-2020 nr: The next step toward 5g massive machine-type communications,” IEEE Communications Standards Magazine, vol. 5, no. 2, pp. 38–45, Jun. 2021.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A. </a:t>
            </a:r>
            <a:r>
              <a:rPr lang="en-US" sz="1300" b="0" strike="noStrike" spc="-1" dirty="0" err="1">
                <a:latin typeface="Metropolis"/>
              </a:rPr>
              <a:t>Samuylov</a:t>
            </a:r>
            <a:r>
              <a:rPr lang="en-US" sz="1300" b="0" strike="noStrike" spc="-1" dirty="0">
                <a:latin typeface="Metropolis"/>
              </a:rPr>
              <a:t> et al., “Empowering Near-URLLC IoT with 5G DECT-2020 NR: Current State and the Road Ahead,” IEEE Communications Magazine, vol. 63, no. 4, pp. 130–136, Apr. 2025.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J. </a:t>
            </a:r>
            <a:r>
              <a:rPr lang="en-US" sz="1300" b="0" strike="noStrike" spc="-1" dirty="0" err="1">
                <a:latin typeface="Metropolis"/>
              </a:rPr>
              <a:t>Dürre</a:t>
            </a:r>
            <a:r>
              <a:rPr lang="en-US" sz="1300" b="0" strike="noStrike" spc="-1" dirty="0">
                <a:latin typeface="Metropolis"/>
              </a:rPr>
              <a:t> and N. Werner, “DECT-2020 NR for Professional Live </a:t>
            </a:r>
            <a:r>
              <a:rPr lang="en-US" sz="1300" b="0" strike="noStrike" spc="-1" dirty="0" err="1">
                <a:latin typeface="Metropolis"/>
              </a:rPr>
              <a:t>Audio:Design</a:t>
            </a:r>
            <a:r>
              <a:rPr lang="en-US" sz="1300" b="0" strike="noStrike" spc="-1" dirty="0">
                <a:latin typeface="Metropolis"/>
              </a:rPr>
              <a:t> Space Exploration and Practical Evaluation,” in 2024 IEEE 5</a:t>
            </a:r>
            <a:r>
              <a:rPr lang="en-US" sz="1300" b="0" strike="noStrike" spc="-1" baseline="33000" dirty="0">
                <a:latin typeface="Metropolis"/>
              </a:rPr>
              <a:t>th</a:t>
            </a:r>
            <a:r>
              <a:rPr lang="en-US" sz="1300" b="0" strike="noStrike" spc="-1" dirty="0">
                <a:latin typeface="Metropolis"/>
              </a:rPr>
              <a:t> International Symposium on the Internet of Sounds (IS2). Erlangen, Germany: IEEE, Sep. 2024.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S. </a:t>
            </a:r>
            <a:r>
              <a:rPr lang="en-US" sz="1300" b="0" strike="noStrike" spc="-1" dirty="0" err="1">
                <a:latin typeface="Metropolis"/>
              </a:rPr>
              <a:t>Mudriievskyi</a:t>
            </a:r>
            <a:r>
              <a:rPr lang="en-US" sz="1300" b="0" strike="noStrike" spc="-1" dirty="0">
                <a:latin typeface="Metropolis"/>
              </a:rPr>
              <a:t>, F. H. </a:t>
            </a:r>
            <a:r>
              <a:rPr lang="en-US" sz="1300" b="0" strike="noStrike" spc="-1" dirty="0" err="1">
                <a:latin typeface="Metropolis"/>
              </a:rPr>
              <a:t>Fitzek</a:t>
            </a:r>
            <a:r>
              <a:rPr lang="en-US" sz="1300" b="0" strike="noStrike" spc="-1" dirty="0">
                <a:latin typeface="Metropolis"/>
              </a:rPr>
              <a:t>, and P. </a:t>
            </a:r>
            <a:r>
              <a:rPr lang="en-US" sz="1300" b="0" strike="noStrike" spc="-1" dirty="0" err="1">
                <a:latin typeface="Metropolis"/>
              </a:rPr>
              <a:t>Seeling</a:t>
            </a:r>
            <a:r>
              <a:rPr lang="en-US" sz="1300" b="0" strike="noStrike" spc="-1" dirty="0">
                <a:latin typeface="Metropolis"/>
              </a:rPr>
              <a:t>, “CHEAP 5G: DECT NR+ for Tactile Internet With Human In The Loop Application,” in European Wireless 2024; 29th European Wireless Conference, Sep. 2024.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K. </a:t>
            </a:r>
            <a:r>
              <a:rPr lang="en-US" sz="1300" b="0" strike="noStrike" spc="-1" dirty="0" err="1">
                <a:latin typeface="Metropolis"/>
              </a:rPr>
              <a:t>Maliatsos</a:t>
            </a:r>
            <a:r>
              <a:rPr lang="en-US" sz="1300" b="0" strike="noStrike" spc="-1" dirty="0">
                <a:latin typeface="Metropolis"/>
              </a:rPr>
              <a:t>, A. Gotsis, and A. Alexiou, “Evaluation of the IMT-2020 Candidate Radio Interface Technology DECT-2020 NR,” in 2022 14</a:t>
            </a:r>
            <a:r>
              <a:rPr lang="en-US" sz="1300" b="0" strike="noStrike" spc="-1" baseline="33000" dirty="0">
                <a:latin typeface="Metropolis"/>
              </a:rPr>
              <a:t>th</a:t>
            </a:r>
            <a:r>
              <a:rPr lang="en-US" sz="1300" b="0" strike="noStrike" spc="-1" dirty="0">
                <a:latin typeface="Metropolis"/>
              </a:rPr>
              <a:t> International Conference on </a:t>
            </a:r>
            <a:r>
              <a:rPr lang="en-US" sz="1300" b="0" strike="noStrike" spc="-1" dirty="0" err="1">
                <a:latin typeface="Metropolis"/>
              </a:rPr>
              <a:t>COMmunication</a:t>
            </a:r>
            <a:r>
              <a:rPr lang="en-US" sz="1300" b="0" strike="noStrike" spc="-1" dirty="0">
                <a:latin typeface="Metropolis"/>
              </a:rPr>
              <a:t> Systems &amp; </a:t>
            </a:r>
            <a:r>
              <a:rPr lang="en-US" sz="1300" b="0" strike="noStrike" spc="-1" dirty="0" err="1">
                <a:latin typeface="Metropolis"/>
              </a:rPr>
              <a:t>NETworkS</a:t>
            </a:r>
            <a:r>
              <a:rPr lang="en-US" sz="1300" b="0" strike="noStrike" spc="-1" dirty="0">
                <a:latin typeface="Metropolis"/>
              </a:rPr>
              <a:t> (COMSNETS). Bangalore, India: IEEE, Jan. 2022.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ETSI, “Ts 103 636-2 - v2.1.1 - dect-2020 new radio (nr); part 2: Radio reception and transmission requirements; release 2,” European Telecommunications Standards Institute, Tech. Rep., 2024.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A. A. </a:t>
            </a:r>
            <a:r>
              <a:rPr lang="en-US" sz="1300" b="0" strike="noStrike" spc="-1" dirty="0" err="1">
                <a:latin typeface="Metropolis"/>
              </a:rPr>
              <a:t>Esswie</a:t>
            </a:r>
            <a:r>
              <a:rPr lang="en-US" sz="1300" b="0" strike="noStrike" spc="-1" dirty="0">
                <a:latin typeface="Metropolis"/>
              </a:rPr>
              <a:t>, K. I. Pedersen, and P. E. </a:t>
            </a:r>
            <a:r>
              <a:rPr lang="en-US" sz="1300" b="0" strike="noStrike" spc="-1" dirty="0" err="1">
                <a:latin typeface="Metropolis"/>
              </a:rPr>
              <a:t>Mogensen</a:t>
            </a:r>
            <a:r>
              <a:rPr lang="en-US" sz="1300" b="0" strike="noStrike" spc="-1" dirty="0">
                <a:latin typeface="Metropolis"/>
              </a:rPr>
              <a:t>, “Quasi-Dynamic Frame Coordination for Ultra-Reliability and Low-Latency in 5G TDD Systems,” in 2019 IEEE International Conference on Communications Workshops (ICC Workshops), May 2019.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R. </a:t>
            </a:r>
            <a:r>
              <a:rPr lang="en-US" sz="1300" b="0" strike="noStrike" spc="-1" dirty="0" err="1">
                <a:latin typeface="Metropolis"/>
              </a:rPr>
              <a:t>Glazkov</a:t>
            </a:r>
            <a:r>
              <a:rPr lang="en-US" sz="1300" b="0" strike="noStrike" spc="-1" dirty="0">
                <a:latin typeface="Metropolis"/>
              </a:rPr>
              <a:t> and et al., “Improving Near-URLLC Services Performance Over Multi-Hop Topologies in DECT-2020 NR Systems,” in 2025 IEEE 101st Vehicular Technology Conference (VTC2025-Spring). Oslo, Norway: IEEE, Jun. 2025.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S. Andreev et al., “Performance of dect-2020 nr and </a:t>
            </a:r>
            <a:r>
              <a:rPr lang="en-US" sz="1300" b="0" strike="noStrike" spc="-1" dirty="0" err="1">
                <a:latin typeface="Metropolis"/>
              </a:rPr>
              <a:t>fcc</a:t>
            </a:r>
            <a:r>
              <a:rPr lang="en-US" sz="1300" b="0" strike="noStrike" spc="-1" dirty="0">
                <a:latin typeface="Metropolis"/>
              </a:rPr>
              <a:t>-based mesh </a:t>
            </a:r>
            <a:r>
              <a:rPr lang="en-US" sz="1300" b="0" strike="noStrike" spc="-1" dirty="0" err="1">
                <a:latin typeface="Metropolis"/>
              </a:rPr>
              <a:t>iot</a:t>
            </a:r>
            <a:r>
              <a:rPr lang="en-US" sz="1300" b="0" strike="noStrike" spc="-1" dirty="0">
                <a:latin typeface="Metropolis"/>
              </a:rPr>
              <a:t> systems in </a:t>
            </a:r>
            <a:r>
              <a:rPr lang="en-US" sz="1300" b="0" strike="noStrike" spc="-1" dirty="0" err="1">
                <a:latin typeface="Metropolis"/>
              </a:rPr>
              <a:t>dect</a:t>
            </a:r>
            <a:r>
              <a:rPr lang="en-US" sz="1300" b="0" strike="noStrike" spc="-1" dirty="0">
                <a:latin typeface="Metropolis"/>
              </a:rPr>
              <a:t> bands,” IEEE Internet of Things Journal, vol. 10, no. 6, pp. 5120–5132, Mar. 2023.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M. M. Haque, J. </a:t>
            </a:r>
            <a:r>
              <a:rPr lang="en-US" sz="1300" b="0" strike="noStrike" spc="-1" dirty="0" err="1">
                <a:latin typeface="Metropolis"/>
              </a:rPr>
              <a:t>Säe</a:t>
            </a:r>
            <a:r>
              <a:rPr lang="en-US" sz="1300" b="0" strike="noStrike" spc="-1" dirty="0">
                <a:latin typeface="Metropolis"/>
              </a:rPr>
              <a:t>, J. </a:t>
            </a:r>
            <a:r>
              <a:rPr lang="en-US" sz="1300" b="0" strike="noStrike" spc="-1" dirty="0" err="1">
                <a:latin typeface="Metropolis"/>
              </a:rPr>
              <a:t>Pirskanen</a:t>
            </a:r>
            <a:r>
              <a:rPr lang="en-US" sz="1300" b="0" strike="noStrike" spc="-1" dirty="0">
                <a:latin typeface="Metropolis"/>
              </a:rPr>
              <a:t>, and M. </a:t>
            </a:r>
            <a:r>
              <a:rPr lang="en-US" sz="1300" b="0" strike="noStrike" spc="-1" dirty="0" err="1">
                <a:latin typeface="Metropolis"/>
              </a:rPr>
              <a:t>Valkama</a:t>
            </a:r>
            <a:r>
              <a:rPr lang="en-US" sz="1300" b="0" strike="noStrike" spc="-1" dirty="0">
                <a:latin typeface="Metropolis"/>
              </a:rPr>
              <a:t>, “DECT-2020 NR Link Distance Performance in Varying Environments: Models and Measurements,” in 2025 19th European Conference on Antennas an Propagation (</a:t>
            </a:r>
            <a:r>
              <a:rPr lang="en-US" sz="1300" b="0" strike="noStrike" spc="-1" dirty="0" err="1">
                <a:latin typeface="Metropolis"/>
              </a:rPr>
              <a:t>EuCAP</a:t>
            </a:r>
            <a:r>
              <a:rPr lang="en-US" sz="1300" b="0" strike="noStrike" spc="-1" dirty="0">
                <a:latin typeface="Metropolis"/>
              </a:rPr>
              <a:t>). Stockholm, Sweden: IEEE, Mar. 2025.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ETSI, “Dect-2020 new radio (nr); part 4: Medium access control (mac) layer; release 2,” European Telecommunications Standards Institute, Sophia Antipolis, France, Tech. Rep. ETSI TS 103 636-4 V2.1.1, 2024.</a:t>
            </a:r>
            <a:endParaRPr lang="en-US" sz="1300" b="0" strike="noStrike" spc="-1" dirty="0"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22B2F"/>
              </a:buClr>
              <a:buFont typeface="Calibri Light"/>
              <a:buAutoNum type="arabicPeriod"/>
            </a:pPr>
            <a:r>
              <a:rPr lang="en-US" sz="1300" b="0" strike="noStrike" spc="-1" dirty="0">
                <a:latin typeface="Metropolis"/>
              </a:rPr>
              <a:t>A. </a:t>
            </a:r>
            <a:r>
              <a:rPr lang="en-US" sz="1300" b="0" strike="noStrike" spc="-1" dirty="0" err="1">
                <a:latin typeface="Metropolis"/>
              </a:rPr>
              <a:t>Samuylov</a:t>
            </a:r>
            <a:r>
              <a:rPr lang="en-US" sz="1300" b="0" strike="noStrike" spc="-1" dirty="0">
                <a:latin typeface="Metropolis"/>
              </a:rPr>
              <a:t> et al., “Performance of MAC Layer Mechanisms in DECT-2020 NR </a:t>
            </a:r>
            <a:r>
              <a:rPr lang="en-US" sz="1300" b="0" strike="noStrike" spc="-1" dirty="0" err="1">
                <a:latin typeface="Metropolis"/>
              </a:rPr>
              <a:t>mMTC</a:t>
            </a:r>
            <a:r>
              <a:rPr lang="en-US" sz="1300" b="0" strike="noStrike" spc="-1" dirty="0">
                <a:latin typeface="Metropolis"/>
              </a:rPr>
              <a:t> Technology,” in 2024 IEEE 99th Vehicular Technology Conference (VTC2024-Spring). Singapore, Singapore: IEEE, Jun. 2024.</a:t>
            </a:r>
            <a:endParaRPr lang="en-US" sz="13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99D757E-CCC0-4EC0-91CF-F112C1F2FCE2}" type="slidenum"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reeform: Shape 38"/>
          <p:cNvSpPr/>
          <p:nvPr/>
        </p:nvSpPr>
        <p:spPr>
          <a:xfrm>
            <a:off x="10735200" y="5168880"/>
            <a:ext cx="1456200" cy="1725480"/>
          </a:xfrm>
          <a:custGeom>
            <a:avLst/>
            <a:gdLst>
              <a:gd name="textAreaLeft" fmla="*/ 0 w 1456200"/>
              <a:gd name="textAreaRight" fmla="*/ 1456560 w 1456200"/>
              <a:gd name="textAreaTop" fmla="*/ 0 h 1725480"/>
              <a:gd name="textAreaBottom" fmla="*/ 1725840 h 1725480"/>
            </a:gdLst>
            <a:ahLst/>
            <a:cxnLst/>
            <a:rect l="textAreaLeft" t="textAreaTop" r="textAreaRight" b="textAreaBottom"/>
            <a:pathLst>
              <a:path w="1456664" h="1725692">
                <a:moveTo>
                  <a:pt x="1456664" y="0"/>
                </a:moveTo>
                <a:lnTo>
                  <a:pt x="1456664" y="1725692"/>
                </a:lnTo>
                <a:lnTo>
                  <a:pt x="0" y="1725692"/>
                </a:lnTo>
                <a:lnTo>
                  <a:pt x="25710" y="1654098"/>
                </a:lnTo>
                <a:cubicBezTo>
                  <a:pt x="272959" y="1027077"/>
                  <a:pt x="705916" y="493591"/>
                  <a:pt x="1256808" y="121416"/>
                </a:cubicBezTo>
                <a:close/>
              </a:path>
            </a:pathLst>
          </a:custGeom>
          <a:solidFill>
            <a:srgbClr val="B22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1" name="TextBox 33"/>
          <p:cNvSpPr/>
          <p:nvPr/>
        </p:nvSpPr>
        <p:spPr>
          <a:xfrm>
            <a:off x="2920680" y="2506680"/>
            <a:ext cx="635004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0" strike="noStrike" spc="-1">
                <a:solidFill>
                  <a:srgbClr val="6B6D71"/>
                </a:solidFill>
                <a:latin typeface="Metropolis Black"/>
              </a:rPr>
              <a:t>Thank You</a:t>
            </a:r>
            <a:endParaRPr lang="en-US" sz="7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2" name="Picture 13"/>
          <p:cNvPicPr/>
          <p:nvPr/>
        </p:nvPicPr>
        <p:blipFill>
          <a:blip r:embed="rId2"/>
          <a:stretch/>
        </p:blipFill>
        <p:spPr>
          <a:xfrm rot="5400000">
            <a:off x="-4291560" y="585720"/>
            <a:ext cx="9267120" cy="504108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2"/>
          <p:cNvPicPr/>
          <p:nvPr/>
        </p:nvPicPr>
        <p:blipFill>
          <a:blip r:embed="rId3"/>
          <a:stretch/>
        </p:blipFill>
        <p:spPr>
          <a:xfrm>
            <a:off x="7864920" y="6309360"/>
            <a:ext cx="2684160" cy="275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DYPDP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1472</Words>
  <Application>Microsoft Office PowerPoint</Application>
  <PresentationFormat>Breitbild</PresentationFormat>
  <Paragraphs>149</Paragraphs>
  <Slides>14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12</vt:i4>
      </vt:variant>
      <vt:variant>
        <vt:lpstr>Design</vt:lpstr>
      </vt:variant>
      <vt:variant>
        <vt:i4>11</vt:i4>
      </vt:variant>
      <vt:variant>
        <vt:lpstr>Folientitel</vt:lpstr>
      </vt:variant>
      <vt:variant>
        <vt:i4>14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Metropolis</vt:lpstr>
      <vt:lpstr>Metropolis Black</vt:lpstr>
      <vt:lpstr>Metropolis Extra Bold</vt:lpstr>
      <vt:lpstr>Metropolis Medium</vt:lpstr>
      <vt:lpstr>Metropolis Semi Bold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PowerPoint-Präsentation</vt:lpstr>
      <vt:lpstr>Outline</vt:lpstr>
      <vt:lpstr>Motivation</vt:lpstr>
      <vt:lpstr>Problem Statement and Contribution</vt:lpstr>
      <vt:lpstr>Latency Components</vt:lpstr>
      <vt:lpstr>System Model</vt:lpstr>
      <vt:lpstr>Experimental Setup</vt:lpstr>
      <vt:lpstr>Measurement Result</vt:lpstr>
      <vt:lpstr>Cross-Validation Using Internal Modem Timing</vt:lpstr>
      <vt:lpstr>Scheduling Scenarios</vt:lpstr>
      <vt:lpstr>Key findings</vt:lpstr>
      <vt:lpstr>Conclusion</vt:lpstr>
      <vt:lpstr>References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Armaan</dc:creator>
  <dc:description/>
  <cp:lastModifiedBy>Alizai, Ashuqullah</cp:lastModifiedBy>
  <cp:revision>138</cp:revision>
  <dcterms:created xsi:type="dcterms:W3CDTF">2025-02-20T10:29:59Z</dcterms:created>
  <dcterms:modified xsi:type="dcterms:W3CDTF">2026-05-29T11:46:32Z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